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 Bold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Roboto Condensed" panose="020F0502020204030204" pitchFamily="2" charset="0"/>
      <p:regular r:id="rId13"/>
    </p:embeddedFont>
    <p:embeddedFont>
      <p:font typeface="Roboto Condensed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586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0746" y="2201005"/>
            <a:ext cx="15506700" cy="68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PostureSense Chair— Real-time Sensor Feedback &amp; Personalised Correction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10341" y="4010784"/>
            <a:ext cx="14386560" cy="239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8"/>
              </a:lnSpc>
            </a:pPr>
            <a:r>
              <a:rPr lang="en-US" sz="13998" spc="-419" dirty="0" err="1">
                <a:solidFill>
                  <a:srgbClr val="00FF8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PosturePilot</a:t>
            </a:r>
            <a:endParaRPr lang="en-US" sz="13998" spc="-419" dirty="0">
              <a:solidFill>
                <a:srgbClr val="00FF87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94096" y="723894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839325" y="7238943"/>
            <a:ext cx="661508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SREEVATHSAN V - EC24B1080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01297" y="8085995"/>
            <a:ext cx="605311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ABHISHEK S - EC24B1085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95350"/>
            <a:ext cx="16101060" cy="104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MPMC COURSE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58478" y="7462465"/>
            <a:ext cx="422329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JULY - NOVEMBER</a:t>
            </a:r>
          </a:p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399408"/>
            <a:ext cx="17259300" cy="914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Poor sitting posture has become a major health concern in today’s digital age, especially among students and professionals who spend long hours at desks.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Prolonged slouching can lead to back pain, spinal deformities, and reduced productivity.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 address this, our system aims to monitor sitting posture in real time using low-cost sensors and provide instant feedback and alerts to help users maintain healthy posture habits.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87663" y="866775"/>
            <a:ext cx="6112674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spc="-240">
                <a:solidFill>
                  <a:srgbClr val="00FF8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4096" y="723894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28700" y="2044255"/>
          <a:ext cx="16230600" cy="7027845"/>
        </p:xfrm>
        <a:graphic>
          <a:graphicData uri="http://schemas.openxmlformats.org/drawingml/2006/table">
            <a:tbl>
              <a:tblPr/>
              <a:tblGrid>
                <a:gridCol w="811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7656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  <a:p>
                      <a:pPr marL="647694" lvl="1" indent="-323847" algn="l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 b="1">
                          <a:solidFill>
                            <a:srgbClr val="00FF87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Phase-1:</a:t>
                      </a:r>
                      <a:r>
                        <a:rPr lang="en-US" sz="2999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 Ideation and Research</a:t>
                      </a:r>
                    </a:p>
                    <a:p>
                      <a:pPr marL="647694" lvl="1" indent="-323847" algn="l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 b="1">
                          <a:solidFill>
                            <a:srgbClr val="00FF87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Phase-2:</a:t>
                      </a:r>
                      <a:r>
                        <a:rPr lang="en-US" sz="2999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 Prototype Making</a:t>
                      </a:r>
                    </a:p>
                    <a:p>
                      <a:pPr marL="647694" lvl="1" indent="-323847" algn="l">
                        <a:lnSpc>
                          <a:spcPts val="4199"/>
                        </a:lnSpc>
                        <a:buFont typeface="Arial"/>
                        <a:buChar char="•"/>
                      </a:pPr>
                      <a:r>
                        <a:rPr lang="en-US" sz="2999" b="1">
                          <a:solidFill>
                            <a:srgbClr val="00FF87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Phase-3:</a:t>
                      </a:r>
                      <a:r>
                        <a:rPr lang="en-US" sz="2999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 Testing and Iterations</a:t>
                      </a:r>
                    </a:p>
                  </a:txBody>
                  <a:tcPr marL="190500" marR="190500" marT="190500" marB="190500" anchor="ctr">
                    <a:lnL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endParaRPr lang="en-US" sz="1100"/>
                    </a:p>
                    <a:p>
                      <a:pPr marL="647700" lvl="1" indent="-323850" algn="l">
                        <a:lnSpc>
                          <a:spcPts val="4200"/>
                        </a:lnSpc>
                        <a:buFont typeface="Arial"/>
                        <a:buChar char="•"/>
                      </a:pPr>
                      <a:r>
                        <a:rPr lang="en-US" sz="3000" b="1">
                          <a:solidFill>
                            <a:srgbClr val="00FF87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ESP32:</a:t>
                      </a:r>
                      <a:r>
                        <a:rPr lang="en-US" sz="3000" b="1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 Processor/Brain</a:t>
                      </a:r>
                    </a:p>
                    <a:p>
                      <a:pPr marL="626111" lvl="1" indent="-313055" algn="l">
                        <a:lnSpc>
                          <a:spcPts val="4060"/>
                        </a:lnSpc>
                        <a:buFont typeface="Arial"/>
                        <a:buChar char="•"/>
                      </a:pPr>
                      <a:r>
                        <a:rPr lang="en-US" sz="2900" b="1">
                          <a:solidFill>
                            <a:srgbClr val="00FF87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IR Sensor -</a:t>
                      </a:r>
                      <a:r>
                        <a:rPr lang="en-US" sz="2900" b="1">
                          <a:solidFill>
                            <a:srgbClr val="D9D9D9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 Measures distance to user’s back HC-SR04</a:t>
                      </a:r>
                    </a:p>
                  </a:txBody>
                  <a:tcPr marL="190500" marR="190500" marT="190500" marB="190500" anchor="ctr">
                    <a:lnL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189">
                <a:tc>
                  <a:txBody>
                    <a:bodyPr/>
                    <a:lstStyle/>
                    <a:p>
                      <a:pPr algn="l">
                        <a:lnSpc>
                          <a:spcPts val="392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420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0" cap="flat" cmpd="sng" algn="ctr">
                      <a:solidFill>
                        <a:srgbClr val="00F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8700" y="753167"/>
            <a:ext cx="16101060" cy="104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ROADMAP - ENGINEERING ASPECT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7144" y="2278236"/>
            <a:ext cx="160020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u="sng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Phases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23831" y="2278236"/>
            <a:ext cx="368808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u="sng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Components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1824" y="5472452"/>
            <a:ext cx="2910840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u="sng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Working Logic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10420" y="5472452"/>
            <a:ext cx="5215379" cy="688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u="sng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Evolution of the Product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65227" y="6046163"/>
            <a:ext cx="7250056" cy="300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endParaRPr dirty="0"/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Past →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Passive braces &amp; posture advice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 →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Sensorized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wearables with haptic feedback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→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ML-driven </a:t>
            </a: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personalised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coaching + clinical validation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 b="1" dirty="0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Prototype →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smart chair add-on that senses your sitting posture and gently reminds you to sit upright.</a:t>
            </a:r>
          </a:p>
          <a:p>
            <a:pPr algn="ctr">
              <a:lnSpc>
                <a:spcPts val="3499"/>
              </a:lnSpc>
            </a:pPr>
            <a:endParaRPr lang="en-US" sz="2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26157" y="6398589"/>
            <a:ext cx="7299503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Calibration:</a:t>
            </a:r>
            <a:r>
              <a:rPr lang="en-US" sz="2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Record baseline distances.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Monitoring:</a:t>
            </a:r>
            <a:r>
              <a:rPr lang="en-US" sz="2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If seat shifts forward distance increases, assume bad posture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</a:t>
            </a:r>
            <a:r>
              <a:rPr lang="en-US" sz="2500" b="1">
                <a:solidFill>
                  <a:srgbClr val="00FF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delay,</a:t>
            </a:r>
            <a:r>
              <a:rPr lang="en-US" sz="2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triggers alert on app interface </a:t>
            </a: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38156"/>
            <a:ext cx="16101060" cy="104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IEEE RESEARCH PAPER-1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694" y="1400169"/>
            <a:ext cx="8901536" cy="723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2"/>
              </a:lnSpc>
            </a:pPr>
            <a:endParaRPr/>
          </a:p>
          <a:p>
            <a:pPr algn="ctr">
              <a:lnSpc>
                <a:spcPts val="4849"/>
              </a:lnSpc>
              <a:spcBef>
                <a:spcPct val="0"/>
              </a:spcBef>
            </a:pPr>
            <a:r>
              <a:rPr lang="en-US" sz="3463" b="1" u="sng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WORKING LOGIC:</a:t>
            </a:r>
          </a:p>
          <a:p>
            <a:pPr algn="ctr">
              <a:lnSpc>
                <a:spcPts val="5692"/>
              </a:lnSpc>
              <a:spcBef>
                <a:spcPct val="0"/>
              </a:spcBef>
            </a:pPr>
            <a:endParaRPr lang="en-US" sz="3463" b="1" u="sng">
              <a:solidFill>
                <a:srgbClr val="00BF63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578063" lvl="1" indent="-289031" algn="l">
              <a:lnSpc>
                <a:spcPts val="3748"/>
              </a:lnSpc>
              <a:buFont typeface="Arial"/>
              <a:buChar char="•"/>
            </a:pPr>
            <a:r>
              <a:rPr lang="en-US" sz="2677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Ultrasonic sensor </a:t>
            </a:r>
            <a:r>
              <a:rPr lang="en-US" sz="267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detects posture by comparing measured distance with a preset threshold (6 cm).</a:t>
            </a:r>
          </a:p>
          <a:p>
            <a:pPr algn="l">
              <a:lnSpc>
                <a:spcPts val="3748"/>
              </a:lnSpc>
            </a:pPr>
            <a:endParaRPr lang="en-US" sz="2677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586066" lvl="1" indent="-293033" algn="l">
              <a:lnSpc>
                <a:spcPts val="3800"/>
              </a:lnSpc>
              <a:buFont typeface="Arial"/>
              <a:buChar char="•"/>
            </a:pPr>
            <a:r>
              <a:rPr lang="en-US" sz="2714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IMU sensor</a:t>
            </a:r>
            <a:r>
              <a:rPr lang="en-US" sz="271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identifies posture deviations via angle changes in the thoracic spine region.</a:t>
            </a:r>
          </a:p>
          <a:p>
            <a:pPr algn="l">
              <a:lnSpc>
                <a:spcPts val="3800"/>
              </a:lnSpc>
            </a:pPr>
            <a:endParaRPr lang="en-US" sz="2714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569812" lvl="1" indent="-284906" algn="l">
              <a:lnSpc>
                <a:spcPts val="3694"/>
              </a:lnSpc>
              <a:buFont typeface="Arial"/>
              <a:buChar char="•"/>
            </a:pPr>
            <a:r>
              <a:rPr lang="en-US" sz="2639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ESP32</a:t>
            </a:r>
            <a:r>
              <a:rPr lang="en-US" sz="263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processes sensor data and sends it via Bluetooth to the mobile app.</a:t>
            </a:r>
          </a:p>
          <a:p>
            <a:pPr algn="l">
              <a:lnSpc>
                <a:spcPts val="3589"/>
              </a:lnSpc>
            </a:pPr>
            <a:endParaRPr lang="en-US" sz="2639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569812" lvl="1" indent="-284906" algn="l">
              <a:lnSpc>
                <a:spcPts val="3774"/>
              </a:lnSpc>
              <a:buFont typeface="Arial"/>
              <a:buChar char="•"/>
            </a:pPr>
            <a:r>
              <a:rPr lang="en-US" sz="263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</a:t>
            </a:r>
            <a:r>
              <a:rPr lang="en-US" sz="2639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Android app</a:t>
            </a:r>
            <a:r>
              <a:rPr lang="en-US" sz="263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displays real-time posture data and issues alerts when improper posture is detected.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54373" y="2066619"/>
            <a:ext cx="8026154" cy="8910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86"/>
              </a:lnSpc>
            </a:pPr>
            <a:r>
              <a:rPr lang="en-US" sz="3419" b="1" u="sng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ELECTRONICS INVOLVED:</a:t>
            </a:r>
          </a:p>
          <a:p>
            <a:pPr algn="just">
              <a:lnSpc>
                <a:spcPts val="3735"/>
              </a:lnSpc>
            </a:pPr>
            <a:r>
              <a:rPr lang="en-US" sz="26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</a:t>
            </a:r>
            <a:r>
              <a:rPr lang="en-US" sz="2668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Controller:</a:t>
            </a:r>
          </a:p>
          <a:p>
            <a:pPr marL="521122" lvl="1" indent="-260561" algn="just">
              <a:lnSpc>
                <a:spcPts val="3379"/>
              </a:lnSpc>
              <a:buFont typeface="Arial"/>
              <a:buChar char="•"/>
            </a:pPr>
            <a:r>
              <a:rPr lang="en-US" sz="2413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</a:t>
            </a:r>
            <a:r>
              <a:rPr lang="en-US" sz="241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ESP32 microcontroller with built-in Wi-Fi/Bluetooth for wireless data transmission.</a:t>
            </a:r>
          </a:p>
          <a:p>
            <a:pPr algn="just">
              <a:lnSpc>
                <a:spcPts val="3353"/>
              </a:lnSpc>
            </a:pPr>
            <a:endParaRPr lang="en-US" sz="2413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735"/>
              </a:lnSpc>
            </a:pPr>
            <a:r>
              <a:rPr lang="en-US" sz="26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</a:t>
            </a:r>
            <a:r>
              <a:rPr lang="en-US" sz="2668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Sensors Used</a:t>
            </a:r>
            <a:r>
              <a:rPr lang="en-US" sz="26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:</a:t>
            </a:r>
          </a:p>
          <a:p>
            <a:pPr marL="517175" lvl="1" indent="-258588" algn="just">
              <a:lnSpc>
                <a:spcPts val="3353"/>
              </a:lnSpc>
              <a:buFont typeface="Arial"/>
              <a:buChar char="•"/>
            </a:pPr>
            <a:r>
              <a:rPr lang="en-US" sz="239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HC-SR04 Ultrasonic Sensor mounted on the chair backrest to measure distance between user’s back and chair.</a:t>
            </a:r>
          </a:p>
          <a:p>
            <a:pPr marL="521120" lvl="1" indent="-260560" algn="just">
              <a:lnSpc>
                <a:spcPts val="3379"/>
              </a:lnSpc>
              <a:buFont typeface="Arial"/>
              <a:buChar char="•"/>
            </a:pPr>
            <a:r>
              <a:rPr lang="en-US" sz="241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MPU-6050 IMU Sensor embedded in a T-shirt to monitor angular variations (pitch, roll, yaw) of the upper back.</a:t>
            </a:r>
          </a:p>
          <a:p>
            <a:pPr algn="just">
              <a:lnSpc>
                <a:spcPts val="3449"/>
              </a:lnSpc>
            </a:pPr>
            <a:r>
              <a:rPr lang="en-US" sz="246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</a:t>
            </a:r>
          </a:p>
          <a:p>
            <a:pPr algn="just">
              <a:lnSpc>
                <a:spcPts val="3735"/>
              </a:lnSpc>
            </a:pPr>
            <a:r>
              <a:rPr lang="en-US" sz="26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</a:t>
            </a:r>
            <a:r>
              <a:rPr lang="en-US" sz="26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</a:t>
            </a:r>
            <a:r>
              <a:rPr lang="en-US" sz="2668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Source</a:t>
            </a:r>
            <a:r>
              <a:rPr lang="en-US" sz="26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:</a:t>
            </a:r>
          </a:p>
          <a:p>
            <a:pPr marL="521120" lvl="1" indent="-260560" algn="just">
              <a:lnSpc>
                <a:spcPts val="3379"/>
              </a:lnSpc>
              <a:buFont typeface="Arial"/>
              <a:buChar char="•"/>
            </a:pPr>
            <a:r>
              <a:rPr lang="en-US" sz="241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3.7 V Li-ion rechargeable battery supplies the ESP32 and sensors.</a:t>
            </a:r>
          </a:p>
          <a:p>
            <a:pPr algn="just">
              <a:lnSpc>
                <a:spcPts val="3353"/>
              </a:lnSpc>
            </a:pPr>
            <a:endParaRPr lang="en-US" sz="2413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3735"/>
              </a:lnSpc>
            </a:pPr>
            <a:r>
              <a:rPr lang="en-US" sz="26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 </a:t>
            </a:r>
            <a:r>
              <a:rPr lang="en-US" sz="2668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Software Tools</a:t>
            </a:r>
            <a:r>
              <a:rPr lang="en-US" sz="26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:</a:t>
            </a:r>
            <a:r>
              <a:rPr lang="en-US" sz="26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</a:t>
            </a:r>
          </a:p>
          <a:p>
            <a:pPr marL="521120" lvl="1" indent="-260560" algn="just">
              <a:lnSpc>
                <a:spcPts val="3379"/>
              </a:lnSpc>
              <a:buFont typeface="Arial"/>
              <a:buChar char="•"/>
            </a:pPr>
            <a:r>
              <a:rPr lang="en-US" sz="241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Arduino IDE for programming ESP32; MIT App Inventor for developing the Android app.</a:t>
            </a:r>
          </a:p>
          <a:p>
            <a:pPr algn="just">
              <a:lnSpc>
                <a:spcPts val="3162"/>
              </a:lnSpc>
              <a:spcBef>
                <a:spcPct val="0"/>
              </a:spcBef>
            </a:pPr>
            <a:endParaRPr lang="en-US" sz="2413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4117"/>
              </a:lnSpc>
              <a:spcBef>
                <a:spcPct val="0"/>
              </a:spcBef>
            </a:pPr>
            <a:endParaRPr lang="en-US" sz="2413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38156"/>
            <a:ext cx="16101060" cy="104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IEEE RESEARCH PAPER-2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339325"/>
            <a:ext cx="7943577" cy="1081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sz="3366" b="1" u="sng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ELECTRONICS INVOLVED: </a:t>
            </a:r>
          </a:p>
          <a:p>
            <a:pPr marL="588249" lvl="1" indent="-294125" algn="l">
              <a:lnSpc>
                <a:spcPts val="6130"/>
              </a:lnSpc>
              <a:buFont typeface="Arial"/>
              <a:buChar char="•"/>
            </a:pPr>
            <a:r>
              <a:rPr lang="en-US" sz="2724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ESP32S Wi-Fi module</a:t>
            </a:r>
            <a:r>
              <a:rPr lang="en-US" sz="272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which sends processed posture data to the Arduino IoT Cloud.</a:t>
            </a:r>
          </a:p>
          <a:p>
            <a:pPr marL="588249" lvl="1" indent="-294125" algn="just">
              <a:lnSpc>
                <a:spcPts val="6130"/>
              </a:lnSpc>
              <a:buFont typeface="Arial"/>
              <a:buChar char="•"/>
            </a:pPr>
            <a:r>
              <a:rPr lang="en-US" sz="2724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Accelerometer (ADXL335, 3-axis): </a:t>
            </a:r>
            <a:r>
              <a:rPr lang="en-US" sz="272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Detects inclination of the user’s spine.</a:t>
            </a:r>
          </a:p>
          <a:p>
            <a:pPr marL="570834" lvl="1" indent="-285417" algn="l">
              <a:lnSpc>
                <a:spcPts val="5948"/>
              </a:lnSpc>
              <a:buFont typeface="Arial"/>
              <a:buChar char="•"/>
            </a:pPr>
            <a:r>
              <a:rPr lang="en-US" sz="2643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ADC0804 (8-bit):</a:t>
            </a:r>
            <a:r>
              <a:rPr lang="en-US" sz="264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Converts analog accelerometer signals into digital data .</a:t>
            </a:r>
          </a:p>
          <a:p>
            <a:pPr marL="570834" lvl="1" indent="-285417" algn="l">
              <a:lnSpc>
                <a:spcPts val="5948"/>
              </a:lnSpc>
              <a:buFont typeface="Arial"/>
              <a:buChar char="•"/>
            </a:pPr>
            <a:r>
              <a:rPr lang="en-US" sz="2643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555 Timer (Astable mode):</a:t>
            </a:r>
            <a:r>
              <a:rPr lang="en-US" sz="2643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</a:t>
            </a:r>
            <a:r>
              <a:rPr lang="en-US" sz="264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Generates clock frequency required by ADC for conversion.</a:t>
            </a:r>
          </a:p>
          <a:p>
            <a:pPr marL="588249" lvl="1" indent="-294125" algn="l">
              <a:lnSpc>
                <a:spcPts val="6130"/>
              </a:lnSpc>
              <a:buFont typeface="Arial"/>
              <a:buChar char="•"/>
            </a:pPr>
            <a:r>
              <a:rPr lang="en-US" sz="2724" b="1" u="sng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AT89S52 Microcontroller:</a:t>
            </a:r>
            <a:r>
              <a:rPr lang="en-US" sz="2724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</a:t>
            </a:r>
            <a:r>
              <a:rPr lang="en-US" sz="272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Processes digital data , Compares readings and displays the result.</a:t>
            </a:r>
          </a:p>
          <a:p>
            <a:pPr algn="just">
              <a:lnSpc>
                <a:spcPts val="6357"/>
              </a:lnSpc>
            </a:pPr>
            <a:r>
              <a:rPr lang="en-US" sz="28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</a:t>
            </a:r>
          </a:p>
          <a:p>
            <a:pPr algn="ctr">
              <a:lnSpc>
                <a:spcPts val="5259"/>
              </a:lnSpc>
            </a:pPr>
            <a:endParaRPr lang="en-US" sz="2825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ctr">
              <a:lnSpc>
                <a:spcPts val="6621"/>
              </a:lnSpc>
            </a:pPr>
            <a:endParaRPr lang="en-US" sz="2825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52822" y="1320275"/>
            <a:ext cx="7606478" cy="10784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3"/>
              </a:lnSpc>
            </a:pPr>
            <a:r>
              <a:rPr lang="en-US" sz="3570" b="1" u="sng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WORKING LOGIC: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</a:t>
            </a:r>
            <a:r>
              <a:rPr lang="en-US" sz="24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AT89S52 microcontroller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compares the reading with a preset threshold value (≈180).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If </a:t>
            </a:r>
            <a:r>
              <a:rPr lang="en-US" sz="2468" b="1" u="sng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value &lt; threshold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→ normal posture (no alert). If </a:t>
            </a:r>
            <a:r>
              <a:rPr lang="en-US" sz="2468" b="1" u="sng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value ≥ threshold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→ bad posture.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For bad posture , </a:t>
            </a:r>
            <a:r>
              <a:rPr lang="en-US" sz="24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Vibration motor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is activated to alert the user.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LCD (16×2) 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displays the digital value.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Simultaneously, data is sent via </a:t>
            </a:r>
            <a:r>
              <a:rPr lang="en-US" sz="24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ESP32 Wi-Fi module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to the Arduino IoT Cloud.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Mobile app/IoT dashboard</a:t>
            </a: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shows real-time readings and graphs posture history.</a:t>
            </a:r>
          </a:p>
          <a:p>
            <a:pPr marL="532958" lvl="1" indent="-266479" algn="l">
              <a:lnSpc>
                <a:spcPts val="5554"/>
              </a:lnSpc>
              <a:buFont typeface="Arial"/>
              <a:buChar char="•"/>
            </a:pPr>
            <a:r>
              <a:rPr lang="en-US" sz="246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Cycle repeats continuously for real-time posture monitoring.</a:t>
            </a:r>
          </a:p>
          <a:p>
            <a:pPr algn="just">
              <a:lnSpc>
                <a:spcPts val="5231"/>
              </a:lnSpc>
            </a:pPr>
            <a:r>
              <a:rPr lang="en-US" sz="23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350684"/>
            <a:ext cx="18288000" cy="491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Most available posture correction devices are either: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 expensive and targeted toward medical use or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 basic, offering only vibration/buzzer alerts without data tracking.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There’s a lack of affordable, real-time, and user-friendly posture monitoring systems for everyday users.</a:t>
            </a: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Hence, a simple, low-cost system integrating hardware feedback with a mobile app interface is highly relevant today.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21459" y="866775"/>
            <a:ext cx="8745274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spc="-240">
                <a:solidFill>
                  <a:srgbClr val="00FF8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 Scenario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4096" y="723894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38156"/>
            <a:ext cx="16101060" cy="104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Methodology &amp; Working Principle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3512" y="104781"/>
            <a:ext cx="16353946" cy="1271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25"/>
              </a:lnSpc>
            </a:pPr>
            <a:endParaRPr/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The proposed system continuously monitors the user’s sitting distance using an ultrasonic sensor fixed to a chair and controlled by an ESP32 microcontroller.</a:t>
            </a:r>
          </a:p>
          <a:p>
            <a:pPr algn="l">
              <a:lnSpc>
                <a:spcPts val="6999"/>
              </a:lnSpc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</a:t>
            </a:r>
            <a:r>
              <a:rPr lang="en-US" sz="3111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Working Steps:</a:t>
            </a:r>
          </a:p>
          <a:p>
            <a:pPr algn="l">
              <a:lnSpc>
                <a:spcPts val="6999"/>
              </a:lnSpc>
            </a:pPr>
            <a:r>
              <a:rPr lang="en-US" sz="31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1) </a:t>
            </a:r>
            <a:r>
              <a:rPr lang="en-US" sz="3111" b="1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Distance Measurement</a:t>
            </a: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: Ultrasonic sensor measures the user’s back distance in real time.</a:t>
            </a:r>
          </a:p>
          <a:p>
            <a:pPr algn="l">
              <a:lnSpc>
                <a:spcPts val="6999"/>
              </a:lnSpc>
            </a:pPr>
            <a:r>
              <a:rPr lang="en-US" sz="31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2)</a:t>
            </a:r>
            <a:r>
              <a:rPr lang="en-US" sz="3111" b="1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Feedback Display: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LCD shows posture status as “Good” or “Bad.”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Bluetooth sends posture data to the MIT App Inventor mobile app.</a:t>
            </a:r>
          </a:p>
          <a:p>
            <a:pPr algn="l">
              <a:lnSpc>
                <a:spcPts val="6999"/>
              </a:lnSpc>
            </a:pPr>
            <a:r>
              <a:rPr lang="en-US" sz="311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3)</a:t>
            </a:r>
            <a:r>
              <a:rPr lang="en-US" sz="3111" b="1">
                <a:solidFill>
                  <a:srgbClr val="00BF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Timed Alerts: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If slouching continues for &gt;10 seconds, a reminder is triggered.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If sitting continuously for &gt;45 minutes, the system alerts the user to take a break.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r>
              <a:rPr lang="en-US" sz="311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Health Promotion: Regular reminders help maintain proper posture and reduce fatigue.</a:t>
            </a:r>
          </a:p>
          <a:p>
            <a:pPr marL="671671" lvl="1" indent="-335836" algn="l">
              <a:lnSpc>
                <a:spcPts val="6999"/>
              </a:lnSpc>
              <a:buFont typeface="Arial"/>
              <a:buChar char="•"/>
            </a:pPr>
            <a:endParaRPr lang="en-US" sz="3111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l">
              <a:lnSpc>
                <a:spcPts val="6593"/>
              </a:lnSpc>
            </a:pPr>
            <a:r>
              <a:rPr lang="en-US" sz="293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966995"/>
            <a:ext cx="8199431" cy="3176505"/>
          </a:xfrm>
          <a:custGeom>
            <a:avLst/>
            <a:gdLst/>
            <a:ahLst/>
            <a:cxnLst/>
            <a:rect l="l" t="t" r="r" b="b"/>
            <a:pathLst>
              <a:path w="8199431" h="3176505">
                <a:moveTo>
                  <a:pt x="0" y="0"/>
                </a:moveTo>
                <a:lnTo>
                  <a:pt x="8199431" y="0"/>
                </a:lnTo>
                <a:lnTo>
                  <a:pt x="8199431" y="3176505"/>
                </a:lnTo>
                <a:lnTo>
                  <a:pt x="0" y="3176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67" t="-283289" r="-21044" b="-25141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186483"/>
            <a:ext cx="6164460" cy="2957017"/>
          </a:xfrm>
          <a:custGeom>
            <a:avLst/>
            <a:gdLst/>
            <a:ahLst/>
            <a:cxnLst/>
            <a:rect l="l" t="t" r="r" b="b"/>
            <a:pathLst>
              <a:path w="6164460" h="2957017">
                <a:moveTo>
                  <a:pt x="0" y="0"/>
                </a:moveTo>
                <a:lnTo>
                  <a:pt x="6164460" y="0"/>
                </a:lnTo>
                <a:lnTo>
                  <a:pt x="6164460" y="2957017"/>
                </a:lnTo>
                <a:lnTo>
                  <a:pt x="0" y="2957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991" t="-7246" r="-20818" b="-42202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553884"/>
            <a:ext cx="8199431" cy="4343824"/>
          </a:xfrm>
          <a:custGeom>
            <a:avLst/>
            <a:gdLst/>
            <a:ahLst/>
            <a:cxnLst/>
            <a:rect l="l" t="t" r="r" b="b"/>
            <a:pathLst>
              <a:path w="8199431" h="4343824">
                <a:moveTo>
                  <a:pt x="0" y="0"/>
                </a:moveTo>
                <a:lnTo>
                  <a:pt x="8199431" y="0"/>
                </a:lnTo>
                <a:lnTo>
                  <a:pt x="8199431" y="4343824"/>
                </a:lnTo>
                <a:lnTo>
                  <a:pt x="0" y="4343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28" t="-305763" r="-20235" b="-586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20147"/>
            <a:ext cx="16101060" cy="113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RESULTS OBTAINED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82838" y="6601852"/>
            <a:ext cx="7660594" cy="211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u="sng">
                <a:solidFill>
                  <a:srgbClr val="5EEDE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action="ppaction://hlinksldjump"/>
              </a:rPr>
              <a:t>https://screenapp.io/app/v/xKcn4iP6iV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399408"/>
            <a:ext cx="18288000" cy="7032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Cloud Integration:</a:t>
            </a: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Store posture data for long-term tracking and analytics.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Machine Learning:</a:t>
            </a: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Personalize feedback based on user behavior and seating patterns.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Multi-Sensor Setup: </a:t>
            </a: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 IMU/gyroscope sensors for full-body posture analysis.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Vibration Feedback:</a:t>
            </a: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Add gentle haptic alerts instead of only visual/audio cues.</a:t>
            </a:r>
          </a:p>
          <a:p>
            <a:pPr algn="l">
              <a:lnSpc>
                <a:spcPts val="5600"/>
              </a:lnSpc>
            </a:pPr>
            <a:endParaRPr lang="en-US" sz="40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716" lvl="1" indent="-431858" algn="l">
              <a:lnSpc>
                <a:spcPts val="5600"/>
              </a:lnSpc>
              <a:buFont typeface="Arial"/>
              <a:buChar char="•"/>
            </a:pPr>
            <a:r>
              <a:rPr lang="en-US" sz="4000" b="1">
                <a:solidFill>
                  <a:srgbClr val="00FF8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Compact Design:</a:t>
            </a:r>
            <a:r>
              <a:rPr lang="en-US" sz="40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Miniaturize the system for easy integration into office chairs.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275349" y="904875"/>
            <a:ext cx="11171637" cy="116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spc="-207">
                <a:solidFill>
                  <a:srgbClr val="00FF8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Enhancements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94096" y="723894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828</Words>
  <Application>Microsoft Office PowerPoint</Application>
  <PresentationFormat>Custom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Roboto Condensed Bold</vt:lpstr>
      <vt:lpstr>Arial</vt:lpstr>
      <vt:lpstr>Canva Sans Bold</vt:lpstr>
      <vt:lpstr>League Spartan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MPMC Project</dc:title>
  <cp:lastModifiedBy>ABHISHEK SUBRAMANIAN</cp:lastModifiedBy>
  <cp:revision>2</cp:revision>
  <dcterms:created xsi:type="dcterms:W3CDTF">2006-08-16T00:00:00Z</dcterms:created>
  <dcterms:modified xsi:type="dcterms:W3CDTF">2025-11-14T18:59:26Z</dcterms:modified>
  <dc:identifier>DAGyaASoyqY</dc:identifier>
</cp:coreProperties>
</file>